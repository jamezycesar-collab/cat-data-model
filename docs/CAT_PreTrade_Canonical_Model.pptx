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CAT Pre-Trade Canonical Data Model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563EB"/>
                </a:solidFill>
              </a:rPr>
              <a:t>Consolidated Audit Trail | SEC Rule 613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Enterprise Party Model | ISDA Instrument Taxonomy | 29 Entities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Version 1.0 | March 2026 |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Model Overview &amp;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7280" y="1645920"/>
            <a:ext cx="1463040" cy="914400"/>
          </a:xfrm>
          <a:prstGeom prst="rect">
            <a:avLst/>
          </a:prstGeom>
          <a:solidFill>
            <a:srgbClr val="8B5CF6"/>
          </a:solidFill>
          <a:ln w="254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645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Party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 Entities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0" y="1645920"/>
            <a:ext cx="1463040" cy="914400"/>
          </a:xfrm>
          <a:prstGeom prst="rect">
            <a:avLst/>
          </a:prstGeom>
          <a:solidFill>
            <a:srgbClr val="10B981"/>
          </a:solidFill>
          <a:ln w="254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645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Instrument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 Entities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4114800"/>
            <a:ext cx="1463040" cy="914400"/>
          </a:xfrm>
          <a:prstGeom prst="rect">
            <a:avLst/>
          </a:prstGeom>
          <a:solidFill>
            <a:srgbClr val="0D9488"/>
          </a:solidFill>
          <a:ln w="254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41148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Venue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Entities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4114800"/>
            <a:ext cx="1463040" cy="914400"/>
          </a:xfrm>
          <a:prstGeom prst="rect">
            <a:avLst/>
          </a:prstGeom>
          <a:solidFill>
            <a:srgbClr val="F59E0B"/>
          </a:solidFill>
          <a:ln w="254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41148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Order Management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Entities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0" y="2743200"/>
            <a:ext cx="1463040" cy="914400"/>
          </a:xfrm>
          <a:prstGeom prst="rect">
            <a:avLst/>
          </a:prstGeom>
          <a:solidFill>
            <a:srgbClr val="2563EB"/>
          </a:solidFill>
          <a:ln w="254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0" y="2743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Entities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2103120"/>
            <a:ext cx="1280160" cy="8229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2103120"/>
            <a:ext cx="-1280160" cy="8229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5029200"/>
            <a:ext cx="2011680" cy="-1554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3474720"/>
            <a:ext cx="1280160" cy="1554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5486400"/>
            <a:ext cx="4572000" cy="914400"/>
          </a:xfrm>
          <a:prstGeom prst="rect">
            <a:avLst/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5486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</a:rPr>
              <a:t>29 Entities | 47 Relationships | 4 Asset Classes | 3 Participant Types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Party Model — Conceptual 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566160" y="1188720"/>
            <a:ext cx="201168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11880" y="12070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PARTY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566160" y="1463040"/>
            <a:ext cx="20116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9312" y="150876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party_id (PK)</a:t>
            </a:r>
            <a:endParaRPr lang="en-US" sz="600" dirty="0"/>
          </a:p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party_type</a:t>
            </a:r>
            <a:endParaRPr lang="en-US" sz="600" dirty="0"/>
          </a:p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party_status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1097280" y="2286000"/>
            <a:ext cx="182880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43000" y="23042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LEGAL_ENTITY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097280" y="256032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260604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lei</a:t>
            </a:r>
            <a:endParaRPr lang="en-US" sz="600" dirty="0"/>
          </a:p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entity_name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5303520" y="2286000"/>
            <a:ext cx="182880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49240" y="23042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NATURAL_PERSON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303520" y="256032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6672" y="260604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first_name</a:t>
            </a:r>
            <a:endParaRPr lang="en-US" sz="600" dirty="0"/>
          </a:p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last_name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1097280" y="3657600"/>
            <a:ext cx="1828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43000" y="36758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PARTY_ROLE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097280" y="393192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0432" y="397764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party_role_id (PK)</a:t>
            </a:r>
            <a:endParaRPr lang="en-US" sz="600" dirty="0"/>
          </a:p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role_type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3566160" y="3657600"/>
            <a:ext cx="1828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11880" y="36758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PARTY_IDENTIFIER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566160" y="393192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9312" y="397764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identifier_id (PK)</a:t>
            </a:r>
            <a:endParaRPr lang="en-US" sz="600" dirty="0"/>
          </a:p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id_type</a:t>
            </a:r>
            <a:endParaRPr lang="en-US" sz="600" dirty="0"/>
          </a:p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id_value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5303520" y="3657600"/>
            <a:ext cx="18288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49240" y="36758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ACCOUNT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303520" y="393192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76672" y="397764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account_id (PK)</a:t>
            </a:r>
            <a:endParaRPr lang="en-US" sz="600" dirty="0"/>
          </a:p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account_type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1097280" y="5029200"/>
            <a:ext cx="18288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143000" y="50474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PARTY_ADDRESS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097280" y="530352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70432" y="534924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address_id (PK)</a:t>
            </a:r>
            <a:endParaRPr lang="en-US" sz="600" dirty="0"/>
          </a:p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address_type</a:t>
            </a:r>
            <a:endParaRPr lang="en-US" sz="600" dirty="0"/>
          </a:p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city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3566160" y="5029200"/>
            <a:ext cx="18288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611880" y="50474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PARTY_CLASSIFICATION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566160" y="530352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534924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classification_id (PK)</a:t>
            </a:r>
            <a:endParaRPr lang="en-US" sz="600" dirty="0"/>
          </a:p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scheme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5303520" y="5029200"/>
            <a:ext cx="18288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349240" y="50474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PARTY_RELATIONSHIP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303520" y="530352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6672" y="534924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relationship_id (PK)</a:t>
            </a:r>
            <a:endParaRPr lang="en-US" sz="600" dirty="0"/>
          </a:p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rel_type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4572000" y="1691640"/>
            <a:ext cx="-2560320" cy="5943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51960" y="15544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057400" y="21488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0..1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480560" y="1691640"/>
            <a:ext cx="1737360" cy="5943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60520" y="15544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263640" y="21488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0..1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657600" y="1188720"/>
            <a:ext cx="-8229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34640" y="1188720"/>
            <a:ext cx="0" cy="2468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834640" y="3657600"/>
            <a:ext cx="-8229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37560" y="10515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057400" y="35204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0..*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572000" y="1188720"/>
            <a:ext cx="-457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26280" y="1188720"/>
            <a:ext cx="0" cy="2468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26280" y="3657600"/>
            <a:ext cx="-457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51960" y="10515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526280" y="35204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0..*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394960" y="1188720"/>
            <a:ext cx="411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806440" y="1188720"/>
            <a:ext cx="0" cy="2468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806440" y="3657600"/>
            <a:ext cx="411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74920" y="10515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263640" y="35204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0..*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011680" y="3657600"/>
            <a:ext cx="7772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88920" y="3657600"/>
            <a:ext cx="0" cy="24688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88920" y="3904488"/>
            <a:ext cx="7772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691640" y="35204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611880" y="37673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0..*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2011680" y="3904488"/>
            <a:ext cx="12344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46120" y="3904488"/>
            <a:ext cx="0" cy="112471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246120" y="5029200"/>
            <a:ext cx="12344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691640" y="37673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452628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0..*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2011680" y="4160520"/>
            <a:ext cx="7772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788920" y="4160520"/>
            <a:ext cx="0" cy="8686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88920" y="5029200"/>
            <a:ext cx="7772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691640" y="40233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361188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0..*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Party Model — Logical 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20700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PARTY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8132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party_id          BIGINT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30352" y="168249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party_type        VARCHAR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530352" y="188366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party_status      VARCHAR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30352" y="208483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effective_date    DATE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30352" y="228600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end_date          DATE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474720" y="1188720"/>
            <a:ext cx="274320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47872" y="120700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LEGAL_ENTITY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0" y="1444752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7872" y="148132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party_id          BIGINT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547872" y="168249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lei               VARCHAR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547872" y="188366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entity_name       VARCHAR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547872" y="208483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entity_type       VARCHAR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547872" y="228600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reg_status        VARCHAR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6400800" y="1188720"/>
            <a:ext cx="274320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73952" y="120700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NATURAL_PERSON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0" y="1444752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148132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party_id          BIGINT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6473952" y="168249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first_name        VARCHAR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6473952" y="188366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last_name         VARCHAR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473952" y="208483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date_of_birth     DATE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473952" y="228600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tax_id_enc        VARBINARY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457200" y="2926080"/>
            <a:ext cx="27432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30352" y="294436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PARTY_ROLE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3182112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21868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party_role_id     BIGINT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530352" y="341985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party_id          BIGINT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530352" y="362102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role_type         VARCHAR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530352" y="382219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role_status       VARCHAR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530352" y="402336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effective_date    DATE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3474720" y="2926080"/>
            <a:ext cx="27432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547872" y="294436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PARTY_IDENTIFIER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474720" y="3182112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47872" y="321868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identifier_id     BIGINT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3547872" y="341985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party_id          BIGINT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3547872" y="362102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id_type           VARCHAR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3547872" y="382219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id_value          VARCHAR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3547872" y="402336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is_primary        BOOLEAN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6400800" y="2926080"/>
            <a:ext cx="274320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473952" y="294436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ACCOUNT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400800" y="3182112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73952" y="321868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account_id        BIGINT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6473952" y="341985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account_holder    BIGINT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6473952" y="362102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account_type      VARCHAR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6473952" y="382219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firm_desig_id     VARCHAR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6473952" y="402336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margin_eligible   BOOLEAN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457200" y="4663440"/>
            <a:ext cx="27432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30352" y="468172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PARTY_ADDRESS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" y="4919472"/>
            <a:ext cx="274320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0352" y="495604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address_id        BIGINT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530352" y="515721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party_id          BIGINT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30352" y="535838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address_type      VARCHAR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530352" y="555955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city              VARCHAR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530352" y="576072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state             VARCHAR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530352" y="596188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country_code      VARCHAR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1828800" y="2926080"/>
            <a:ext cx="0" cy="-17373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508760" y="27889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1874520" y="10515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0..1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846320" y="2926080"/>
            <a:ext cx="0" cy="-17373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26280" y="27889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892040" y="10515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0..1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7772400" y="2926080"/>
            <a:ext cx="0" cy="-17373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52360" y="27889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7818120" y="10515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0..1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Party Extended — Conceptual 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371600" cy="457200"/>
          </a:xfrm>
          <a:prstGeom prst="rect">
            <a:avLst/>
          </a:prstGeom>
          <a:solidFill>
            <a:srgbClr val="F8FAFC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</a:rPr>
              <a:t>PARTY_ROLE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371600" cy="457200"/>
          </a:xfrm>
          <a:prstGeom prst="rect">
            <a:avLst/>
          </a:prstGeom>
          <a:solidFill>
            <a:srgbClr val="F8FAFC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02920" y="2240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</a:rPr>
              <a:t>PARTY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8288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3898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PARTY_RELATIONSHIP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560320" y="164592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69164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relationship_id</a:t>
            </a:r>
            <a:endParaRPr lang="en-US" sz="600" dirty="0"/>
          </a:p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rel_type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1828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74920" y="13898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PARTY_IDENTIFIER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029200" y="164592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02352" y="169164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identifier_id</a:t>
            </a:r>
            <a:endParaRPr lang="en-US" sz="600" dirty="0"/>
          </a:p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id_type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7498080" y="1371600"/>
            <a:ext cx="16459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43800" y="13898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ACCOUNT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498080" y="1645920"/>
            <a:ext cx="16459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1232" y="169164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account_id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2560320" y="3200400"/>
            <a:ext cx="18288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606040" y="32186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PARTY_ADDRESS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560320" y="347472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33472" y="352044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address_id</a:t>
            </a:r>
            <a:endParaRPr lang="en-US" sz="600" dirty="0"/>
          </a:p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address_type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5029200" y="3200400"/>
            <a:ext cx="18288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74920" y="32186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PARTY_CLASSIFICATION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029200" y="347472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352044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classification_id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1143000" y="1828800"/>
            <a:ext cx="7086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51660" y="1828800"/>
            <a:ext cx="0" cy="-21031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51660" y="1618488"/>
            <a:ext cx="7086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16916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606040" y="14813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0..*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474720" y="137160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0" y="1371600"/>
            <a:ext cx="0" cy="9601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0" y="233172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1371600"/>
            <a:ext cx="-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80560" y="1371600"/>
            <a:ext cx="0" cy="9601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80560" y="2331720"/>
            <a:ext cx="-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60320" y="187452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60320" y="1874520"/>
            <a:ext cx="0" cy="1325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60320" y="320040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40280" y="17373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606040" y="3063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0..*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Party Extended — Logical 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20700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PARTY_RELATIONSHIP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25603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8132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relationship_id   BIGINT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30352" y="168249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parent_party      BIGINT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530352" y="188366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child_party       BIGINT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30352" y="208483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relationship_type VARCHAR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30352" y="228600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ownership_pct     DECIMAL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291840" y="1188720"/>
            <a:ext cx="25603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64992" y="120700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ACCOUNT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91840" y="1444752"/>
            <a:ext cx="256032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48132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account_id        BIGINT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364992" y="168249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acct_holder_role  BIGINT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364992" y="188366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account_type      VARCHAR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364992" y="208483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firm_desig_id     VARCHAR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364992" y="228600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account_status    VARCHAR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364992" y="248716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margin_eligible   BOOLEAN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6126480" y="1188720"/>
            <a:ext cx="25603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99632" y="120700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PARTY_CLASSIFICATION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26480" y="1444752"/>
            <a:ext cx="25603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148132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classification_id BIGINT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6199632" y="168249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party_id          BIGINT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199632" y="188366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class_scheme      VARCHAR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199632" y="208483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class_value       VARCHAR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6199632" y="228600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effective_date    DATE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457200" y="3200400"/>
            <a:ext cx="25603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30352" y="321868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PARTY_IDENTIFIER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3456432"/>
            <a:ext cx="256032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349300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identifier_id     BIGINT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530352" y="369417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party_id          BIGINT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530352" y="389534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id_type           VARCHAR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530352" y="409651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id_value          VARCHAR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530352" y="429768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id_source         VARCHAR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530352" y="449884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is_primary        BOOLEAN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291840" y="3200400"/>
            <a:ext cx="25603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364992" y="321868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PARTY_ADDRESS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91840" y="3456432"/>
            <a:ext cx="256032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64992" y="349300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address_id        BIGINT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3364992" y="369417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party_id          BIGINT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3364992" y="389534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address_type      VARCHAR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3364992" y="409651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street            VARCHAR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3364992" y="429768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city              VARCHAR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3364992" y="449884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postal_code       VARCHAR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3364992" y="470001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country_code      VARCHAR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Instrument Model — Conceptual 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566160" y="1188720"/>
            <a:ext cx="201168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11880" y="12070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INSTRUMENT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566160" y="1463040"/>
            <a:ext cx="20116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9312" y="150876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instrument_id (PK)</a:t>
            </a:r>
            <a:endParaRPr lang="en-US" sz="600" dirty="0"/>
          </a:p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instr_type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164592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3042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EQUITY_ATTR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16459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60604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share_class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2560320" y="2286000"/>
            <a:ext cx="164592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06040" y="23042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OPTION_ATTR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560320" y="2560320"/>
            <a:ext cx="16459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472" y="260604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strike_price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4663440" y="2286000"/>
            <a:ext cx="164592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3042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FI_ATTR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663440" y="2560320"/>
            <a:ext cx="16459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260604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coupon_rate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6766560" y="2286000"/>
            <a:ext cx="164592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12280" y="23042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DIGITAL_ATTR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766560" y="2560320"/>
            <a:ext cx="16459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260604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blockchain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1097280" y="3566160"/>
            <a:ext cx="1828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43000" y="35844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INSTRUMENT_ID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097280" y="384048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70432" y="388620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identifier_id</a:t>
            </a:r>
            <a:endParaRPr lang="en-US" sz="600" dirty="0"/>
          </a:p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id_type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3566160" y="3566160"/>
            <a:ext cx="1828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11880" y="35844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INSTRUMENT_CLASS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566160" y="384048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9312" y="388620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classification_id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6035040" y="3566160"/>
            <a:ext cx="18288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080760" y="35844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INSTRUMENT_LISTING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035040" y="384048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08192" y="388620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listing_id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1097280" y="4937760"/>
            <a:ext cx="18288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143000" y="49560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CORPORATE_ACTION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097280" y="521208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70432" y="525780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action_id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3657600" y="1691640"/>
            <a:ext cx="-11887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68880" y="1691640"/>
            <a:ext cx="0" cy="5943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68880" y="2286000"/>
            <a:ext cx="-11887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37560" y="15544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325880" y="21488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0..1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114800" y="1691640"/>
            <a:ext cx="-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49040" y="1691640"/>
            <a:ext cx="0" cy="5943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49040" y="2286000"/>
            <a:ext cx="-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94760" y="15544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429000" y="21488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0..1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572000" y="169164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29200" y="1691640"/>
            <a:ext cx="0" cy="5943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29200" y="228600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51960" y="15544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532120" y="21488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0..1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5394960" y="1691640"/>
            <a:ext cx="10972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92240" y="1691640"/>
            <a:ext cx="0" cy="5943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92240" y="2286000"/>
            <a:ext cx="10972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74920" y="15544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7635240" y="21488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0..1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3657600" y="1188720"/>
            <a:ext cx="-8229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34640" y="1188720"/>
            <a:ext cx="0" cy="23774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834640" y="3566160"/>
            <a:ext cx="-8229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37560" y="10515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2057400" y="34290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0..*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480560" y="118872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80560" y="1188720"/>
            <a:ext cx="0" cy="23774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480560" y="356616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60520" y="10515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26280" y="34290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0..*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5394960" y="1188720"/>
            <a:ext cx="7772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172200" y="1188720"/>
            <a:ext cx="0" cy="23774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172200" y="3566160"/>
            <a:ext cx="7772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74920" y="10515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6995160" y="34290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0..*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Instrument Model — Logical 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20700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INSTRUMENT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256032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8132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instrument_id     BIGINT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30352" y="168249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instrument_type   VARCHAR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530352" y="188366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primary_symbol    VARCHAR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30352" y="208483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instr_status      VARCHAR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30352" y="228600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primary_currency  VARCHAR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30352" y="248716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maturity_date     DATE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291840" y="1188720"/>
            <a:ext cx="25603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64992" y="120700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INSTR_IDENTIFIER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91840" y="1444752"/>
            <a:ext cx="256032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148132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identifier_id     BIGINT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364992" y="168249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instrument_id     BIGINT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364992" y="188366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id_type           VARCHAR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364992" y="208483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id_value          VARCHAR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364992" y="228600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id_source         VARCHAR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3364992" y="248716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is_primary        BOOLEAN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6126480" y="1188720"/>
            <a:ext cx="25603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99632" y="120700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INSTR_CLASSIFICATION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26480" y="1444752"/>
            <a:ext cx="25603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148132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classification_id BIGINT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199632" y="168249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instrument_id     BIGINT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199632" y="188366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class_scheme      VARCHAR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6199632" y="208483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asset_class       VARCHAR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6199632" y="228600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product_type      VARCHAR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457200" y="3017520"/>
            <a:ext cx="256032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30352" y="303580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EQUITY_ATTR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273552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331012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instrument_id     BIGINT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530352" y="351129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share_class       VARCHAR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530352" y="371246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mkt_cap_tier      VARCHAR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530352" y="391363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nms_indicator     BOOLEAN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3291840" y="3017520"/>
            <a:ext cx="256032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364992" y="303580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OPTION_ATTR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91840" y="3273552"/>
            <a:ext cx="25603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64992" y="331012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instrument_id     BIGINT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3364992" y="351129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underlying_id     BIGINT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3364992" y="371246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strike_price      DECIMAL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3364992" y="391363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put_call          VARCHAR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3364992" y="411480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expiry_date       DATE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6126480" y="3017520"/>
            <a:ext cx="256032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199632" y="303580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FI_ATTR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126480" y="3273552"/>
            <a:ext cx="25603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99632" y="331012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instrument_id     BIGINT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6199632" y="351129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issuer_party_id   BIGINT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6199632" y="371246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coupon_rate       DECIMAL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6199632" y="391363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credit_rating     VARCHAR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6199632" y="411480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seniority         VARCHAR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Instrument Subtypes &amp; Venue — Conceptual 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371600" cy="457200"/>
          </a:xfrm>
          <a:prstGeom prst="rect">
            <a:avLst/>
          </a:prstGeom>
          <a:solidFill>
            <a:srgbClr val="F8FAFC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</a:rPr>
              <a:t>INSTRUMENT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371600" cy="457200"/>
          </a:xfrm>
          <a:prstGeom prst="rect">
            <a:avLst/>
          </a:prstGeom>
          <a:solidFill>
            <a:srgbClr val="F8FAFC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02920" y="20574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</a:rPr>
              <a:t>PARTY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286000" y="1188720"/>
            <a:ext cx="155448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31720" y="12070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EQUITY_ATTR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286000" y="1463040"/>
            <a:ext cx="15544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9152" y="1508760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share_class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114800" y="1188720"/>
            <a:ext cx="155448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0520" y="12070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OPTION_ATTR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114800" y="1463040"/>
            <a:ext cx="15544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87952" y="1508760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strike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5943600" y="1188720"/>
            <a:ext cx="155448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89320" y="12070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FI_ATTR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943600" y="1463040"/>
            <a:ext cx="15544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1508760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coupon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7772400" y="1188720"/>
            <a:ext cx="118872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818120" y="12070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DIGITAL_ATTR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772400" y="1463040"/>
            <a:ext cx="11887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45552" y="1508760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token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2286000" y="2743200"/>
            <a:ext cx="1828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331720" y="27614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VENUE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286000" y="301752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59152" y="306324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venue_id</a:t>
            </a:r>
            <a:endParaRPr lang="en-US" sz="600" dirty="0"/>
          </a:p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mic_code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4389120" y="2743200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434840" y="27614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VENUE_AC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389120" y="3017520"/>
            <a:ext cx="16459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62272" y="306324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asset_class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6400800" y="2743200"/>
            <a:ext cx="18288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46520" y="27614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INSTRUMENT_LISTING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400800" y="301752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73952" y="306324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listing_id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2286000" y="4297680"/>
            <a:ext cx="18288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331720" y="43159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CORPORATE_ACTION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286000" y="457200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59152" y="461772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action_id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1828800" y="169164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57400" y="1691640"/>
            <a:ext cx="0" cy="-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57400" y="1435608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08760" y="15544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331720" y="12984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0..*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828800" y="2148840"/>
            <a:ext cx="6858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14600" y="2148840"/>
            <a:ext cx="0" cy="84124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14600" y="2990088"/>
            <a:ext cx="6858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508760" y="20116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246120" y="28529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0..*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200400" y="1188720"/>
            <a:ext cx="1600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00600" y="1188720"/>
            <a:ext cx="0" cy="18013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00600" y="2990088"/>
            <a:ext cx="1600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86000" y="187452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86000" y="1874520"/>
            <a:ext cx="0" cy="24231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86000" y="429768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Venue &amp; Instrument Listing — Logical 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20700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VENUE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25603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8132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venue_id          BIGINT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30352" y="168249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operator_party    BIGINT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530352" y="188366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mic_code          VARCHAR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30352" y="208483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venue_name        VARCHAR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30352" y="228600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venue_type        VARCHAR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291840" y="1188720"/>
            <a:ext cx="25603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64992" y="120700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VENUE_ASSET_CLASS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91840" y="1444752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48132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venue_asset_id    BIGINT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364992" y="168249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venue_id          BIGINT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364992" y="188366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asset_class       VARCHAR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364992" y="208483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trading_protocol  VARCHAR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6126480" y="1188720"/>
            <a:ext cx="25603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99632" y="120700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INSTRUMENT_LISTING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126480" y="1444752"/>
            <a:ext cx="256032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148132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listing_id        BIGINT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6199632" y="168249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instrument_id     BIGINT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6199632" y="188366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venue_id          BIGINT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6199632" y="208483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listing_type      VARCHAR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199632" y="228600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trading_currency  VARCHAR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199632" y="248716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lot_size          DECIMAL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457200" y="3200400"/>
            <a:ext cx="25603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30352" y="321868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CORPORATE_ACTION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3456432"/>
            <a:ext cx="25603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49300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action_id         BIGINT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530352" y="369417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instrument_id     BIGINT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530352" y="389534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action_type       VARCHAR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530352" y="409651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ex_date           DATE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530352" y="429768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adjustment_factor DECIMAL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3291840" y="3200400"/>
            <a:ext cx="256032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364992" y="321868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DIGITAL_ATTR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91840" y="3456432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64992" y="349300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instrument_id     BIGINT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3364992" y="369417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blockchain        VARCHAR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3364992" y="389534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token_standard    VARCHAR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3364992" y="409651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security_class    VARCHAR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Order Management — Conceptual 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371600" cy="457200"/>
          </a:xfrm>
          <a:prstGeom prst="rect">
            <a:avLst/>
          </a:prstGeom>
          <a:solidFill>
            <a:srgbClr val="F8FAFC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</a:rPr>
              <a:t>PARTY_ROLE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371600" cy="457200"/>
          </a:xfrm>
          <a:prstGeom prst="rect">
            <a:avLst/>
          </a:prstGeom>
          <a:solidFill>
            <a:srgbClr val="F8FAFC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02920" y="19659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</a:rPr>
              <a:t>ACCOUNT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371600" cy="457200"/>
          </a:xfrm>
          <a:prstGeom prst="rect">
            <a:avLst/>
          </a:prstGeom>
          <a:solidFill>
            <a:srgbClr val="F8FAFC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02920" y="26060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</a:rPr>
              <a:t>INSTRUMENT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1371600" cy="457200"/>
          </a:xfrm>
          <a:prstGeom prst="rect">
            <a:avLst/>
          </a:prstGeom>
          <a:solidFill>
            <a:srgbClr val="F8FAFC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02920" y="32461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</a:rPr>
              <a:t>VENUE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00400" y="1645920"/>
            <a:ext cx="22860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46120" y="16642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ORDER_EVENT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0" y="1920240"/>
            <a:ext cx="2286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196596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order_event_id</a:t>
            </a:r>
            <a:endParaRPr lang="en-US" sz="600" dirty="0"/>
          </a:p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cat_event_type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2560320" y="2926080"/>
            <a:ext cx="18288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06040" y="29443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ORDER_ROUTE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560320" y="320040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324612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route_id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4754880" y="2926080"/>
            <a:ext cx="18288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29443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QUOTE_EVENT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754880" y="320040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324612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quote_event_id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949440" y="2926080"/>
            <a:ext cx="18288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5160" y="29443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ORDER_MODIFICATION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949440" y="320040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22592" y="324612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modification_id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1828800" y="164592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1645920"/>
            <a:ext cx="0" cy="12801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94560" y="292608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08760" y="15087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606040" y="27889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0..*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486400" y="1645920"/>
            <a:ext cx="914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77840" y="1645920"/>
            <a:ext cx="0" cy="12801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77840" y="2926080"/>
            <a:ext cx="914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15087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715000" y="27889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0..*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486400" y="1920240"/>
            <a:ext cx="7315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1920240"/>
            <a:ext cx="0" cy="10058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2926080"/>
            <a:ext cx="7315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17830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995160" y="27889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0..*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Order Management — Logical 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92608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11556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ORDER_EVENT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292608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389888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order_event_id    BIGINT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47472" y="1591056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cat_event_type    VARCHAR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347472" y="1792224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event_timestamp   TIMESTAMP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47472" y="1993392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cat_order_id      VARCHAR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347472" y="2194560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reporter_role     BIGINT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347472" y="2395728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customer_account  BIGINT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7472" y="2596896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instrument_id     BIGINT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347472" y="2798064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venue_id          BIGINT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347472" y="2999232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side              VARCHAR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47472" y="3200400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order_type        VARCHAR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47472" y="3401568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price             DECIMAL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47472" y="3602736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quantity          DECIMAL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3474720" y="1097280"/>
            <a:ext cx="25603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47872" y="111556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ORDER_ROUTE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474720" y="1353312"/>
            <a:ext cx="25603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138988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route_id          BIGINT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547872" y="159105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order_event_id    BIGINT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547872" y="179222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sender_party      BIGINT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3547872" y="199339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venue_id          BIGINT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3547872" y="219456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routed_order_id   VARCHAR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6309360" y="1097280"/>
            <a:ext cx="25603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82512" y="111556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QUOTE_EVENT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309360" y="1353312"/>
            <a:ext cx="256032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138988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quote_event_id    BIGINT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6382512" y="159105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quote_id          VARCHAR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6382512" y="179222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reporter_role     BIGINT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6382512" y="199339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instrument_id     BIGINT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6382512" y="219456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bid_price         DECIMAL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6382512" y="239572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ask_price         DECIMAL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74320" y="4389120"/>
            <a:ext cx="25603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47472" y="440740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ORDER_MODIFICATION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4645152"/>
            <a:ext cx="25603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468172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modification_id   BIGINT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347472" y="488289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order_event_id    BIGINT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347472" y="508406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modified_field    VARCHAR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347472" y="528523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prior_value       VARCHAR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347472" y="548640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new_value         VARCHAR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Operations &amp; Compliance — Conceptual 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645920" cy="457200"/>
          </a:xfrm>
          <a:prstGeom prst="rect">
            <a:avLst/>
          </a:prstGeom>
          <a:solidFill>
            <a:srgbClr val="F8FAFC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ORDER_EVENT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645920" cy="457200"/>
          </a:xfrm>
          <a:prstGeom prst="rect">
            <a:avLst/>
          </a:prstGeom>
          <a:solidFill>
            <a:srgbClr val="F8FAFC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02920" y="2240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PARTY_ROLE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22860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3898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ERROR_CORRECTION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560320" y="1645920"/>
            <a:ext cx="22860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691640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correction_id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5212080" y="1371600"/>
            <a:ext cx="22860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57800" y="13898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REPORTING_SUBMISSION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212080" y="1645920"/>
            <a:ext cx="22860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85232" y="1691640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submission_id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2926080" y="2743200"/>
            <a:ext cx="22860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71800" y="27614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&lt;&lt;entity&gt;&gt;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CLOCK_SYNC_AUDIT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926080" y="3017520"/>
            <a:ext cx="22860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99232" y="3063240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F2937"/>
                </a:solidFill>
              </a:rPr>
              <a:t>audit_id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2103120" y="164592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31720" y="1645920"/>
            <a:ext cx="0" cy="-274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31720" y="1618488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3080" y="15087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606040" y="14813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0..*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103120" y="233172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31720" y="2331720"/>
            <a:ext cx="0" cy="-6400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169164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83080" y="21945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1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606040" y="15544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0..*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Operations &amp; Compliance — Logical 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20700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ERROR_CORRECTION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8132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correction_id     BIGINT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30352" y="168249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original_record   VARCHAR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530352" y="188366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correction_type   VARCHAR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30352" y="208483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reporter_role     BIGINT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30352" y="228600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reg_deadline      DATE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474720" y="1188720"/>
            <a:ext cx="27432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47872" y="120700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REPORTING_SUBMISSION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0" y="1444752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7872" y="148132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submission_id     BIGINT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547872" y="168249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reporter_role     BIGINT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547872" y="188366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submission_date   DATE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547872" y="208483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record_count      INTEGER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547872" y="228600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status            VARCHAR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6492240" y="1188720"/>
            <a:ext cx="265176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65392" y="1207008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CLOCK_SYNC_AUDIT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92240" y="1444752"/>
            <a:ext cx="2651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1481328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audit_id          BIGINT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6565392" y="168249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party_role_id     BIGINT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6565392" y="1883664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system_name       VARCHAR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565392" y="2084832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offset_ms         INTEGER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565392" y="2286000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compliance_status VARCHAR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Cross-Domain Relationships 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280160" cy="731520"/>
          </a:xfrm>
          <a:prstGeom prst="rect">
            <a:avLst/>
          </a:prstGeom>
          <a:solidFill>
            <a:srgbClr val="8B5CF6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097280"/>
            <a:ext cx="1280160" cy="731520"/>
          </a:xfrm>
          <a:prstGeom prst="rect">
            <a:avLst/>
          </a:prstGeom>
          <a:solidFill>
            <a:srgbClr val="10B98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0972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INSTRUMENT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0" y="1828800"/>
            <a:ext cx="1280160" cy="731520"/>
          </a:xfrm>
          <a:prstGeom prst="rect">
            <a:avLst/>
          </a:prstGeom>
          <a:solidFill>
            <a:srgbClr val="0D948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8288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VENUE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1097280"/>
            <a:ext cx="1280160" cy="731520"/>
          </a:xfrm>
          <a:prstGeom prst="rect">
            <a:avLst/>
          </a:prstGeom>
          <a:solidFill>
            <a:srgbClr val="F59E0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0972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ORDER MGMT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23760" y="1828800"/>
            <a:ext cx="1280160" cy="731520"/>
          </a:xfrm>
          <a:prstGeom prst="rect">
            <a:avLst/>
          </a:prstGeom>
          <a:solidFill>
            <a:srgbClr val="2563E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18288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80160" y="2194560"/>
            <a:ext cx="1005840" cy="-7315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1097280"/>
            <a:ext cx="1005840" cy="7315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1645920"/>
            <a:ext cx="2651760" cy="-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463040"/>
            <a:ext cx="100584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463040"/>
            <a:ext cx="1005840" cy="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</a:rPr>
              <a:t>Key Cross-Domain Relationships: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5661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• PARTY_ROLE → ACCOUNT → ORDER_EVENT (reporting relationship)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8404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• PARTY (issuer) → INSTRUMENT → INSTRUMENT_LISTING → VENUE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• ORDER_EVENT → ORDER_ROUTE → VENUE (routing relationship)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3891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• ORDER_EVENT → ERROR_CORRECTION → REPORTING_SUBMISSION (compliance)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UML Cardinality Notation: 1 (one) | 0..1 (zero or one) | 0..* (zero or more) | 1..* (one or more)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Relationship Matrix (Top 15)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463040" cy="228600"/>
          </a:xfrm>
          <a:prstGeom prst="rect">
            <a:avLst/>
          </a:prstGeom>
          <a:solidFill>
            <a:srgbClr val="0F1B2D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07008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From Entity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737360" y="1188720"/>
            <a:ext cx="1463040" cy="228600"/>
          </a:xfrm>
          <a:prstGeom prst="rect">
            <a:avLst/>
          </a:prstGeom>
          <a:solidFill>
            <a:srgbClr val="0F1B2D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1207008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To Entity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1097280" cy="228600"/>
          </a:xfrm>
          <a:prstGeom prst="rect">
            <a:avLst/>
          </a:prstGeom>
          <a:solidFill>
            <a:srgbClr val="0F1B2D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207008"/>
            <a:ext cx="1005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Cardinality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297680" y="1188720"/>
            <a:ext cx="1645920" cy="228600"/>
          </a:xfrm>
          <a:prstGeom prst="rect">
            <a:avLst/>
          </a:prstGeom>
          <a:solidFill>
            <a:srgbClr val="0F1B2D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207008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Foreign Key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943600" y="1188720"/>
            <a:ext cx="2286000" cy="228600"/>
          </a:xfrm>
          <a:prstGeom prst="rect">
            <a:avLst/>
          </a:prstGeom>
          <a:solidFill>
            <a:srgbClr val="0F1B2D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207008"/>
            <a:ext cx="2194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Description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74320" y="1426464"/>
            <a:ext cx="14630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4356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PARTY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1737360" y="1426464"/>
            <a:ext cx="14630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14356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LEGAL_ENTITY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3200400" y="1426464"/>
            <a:ext cx="10972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4356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1:0..1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4297680" y="1426464"/>
            <a:ext cx="164592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14356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party_id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5943600" y="1426464"/>
            <a:ext cx="22860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14356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Party specialization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274320" y="1636776"/>
            <a:ext cx="146304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645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PARTY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1737360" y="1636776"/>
            <a:ext cx="146304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83080" y="1645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NATURAL_PERSON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3200400" y="1636776"/>
            <a:ext cx="109728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16459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1:0..1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4297680" y="1636776"/>
            <a:ext cx="164592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3400" y="16459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party_id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5943600" y="1636776"/>
            <a:ext cx="228600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16459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Party specialization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274320" y="1847088"/>
            <a:ext cx="14630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18562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PARTY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1737360" y="1847088"/>
            <a:ext cx="14630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83080" y="18562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PARTY_ROLE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3200400" y="1847088"/>
            <a:ext cx="10972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46120" y="18562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1:0..*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4297680" y="1847088"/>
            <a:ext cx="164592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43400" y="18562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party_id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5943600" y="1847088"/>
            <a:ext cx="22860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89320" y="18562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Party assumes role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274320" y="2057400"/>
            <a:ext cx="146304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20665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PARTY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1737360" y="2057400"/>
            <a:ext cx="146304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83080" y="20665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PARTY_IDENTIFIER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3200400" y="2057400"/>
            <a:ext cx="109728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46120" y="206654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1:0..*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4297680" y="2057400"/>
            <a:ext cx="164592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43400" y="20665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party_id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5943600" y="2057400"/>
            <a:ext cx="228600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206654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Party identification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274320" y="2267712"/>
            <a:ext cx="14630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22768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PARTY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1737360" y="2267712"/>
            <a:ext cx="14630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83080" y="22768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PARTY_ADDRESS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3200400" y="2267712"/>
            <a:ext cx="10972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46120" y="22768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1:0..*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4297680" y="2267712"/>
            <a:ext cx="164592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43400" y="22768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party_id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5943600" y="2267712"/>
            <a:ext cx="22860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89320" y="22768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Party contact info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274320" y="2478024"/>
            <a:ext cx="146304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24871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PARTY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1737360" y="2478024"/>
            <a:ext cx="146304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83080" y="24871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PARTY_CLASSIFICATION</a:t>
            </a:r>
            <a:endParaRPr lang="en-US" sz="600" dirty="0"/>
          </a:p>
        </p:txBody>
      </p:sp>
      <p:sp>
        <p:nvSpPr>
          <p:cNvPr id="69" name="Shape 67"/>
          <p:cNvSpPr/>
          <p:nvPr/>
        </p:nvSpPr>
        <p:spPr>
          <a:xfrm>
            <a:off x="3200400" y="2478024"/>
            <a:ext cx="109728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46120" y="24871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1:0..*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4297680" y="2478024"/>
            <a:ext cx="164592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43400" y="24871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party_id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5943600" y="2478024"/>
            <a:ext cx="228600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989320" y="24871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Party taxonomy</a:t>
            </a:r>
            <a:endParaRPr lang="en-US" sz="600" dirty="0"/>
          </a:p>
        </p:txBody>
      </p:sp>
      <p:sp>
        <p:nvSpPr>
          <p:cNvPr id="75" name="Shape 73"/>
          <p:cNvSpPr/>
          <p:nvPr/>
        </p:nvSpPr>
        <p:spPr>
          <a:xfrm>
            <a:off x="274320" y="2688336"/>
            <a:ext cx="14630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040" y="2697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PARTY_ROLE</a:t>
            </a:r>
            <a:endParaRPr lang="en-US" sz="600" dirty="0"/>
          </a:p>
        </p:txBody>
      </p:sp>
      <p:sp>
        <p:nvSpPr>
          <p:cNvPr id="77" name="Shape 75"/>
          <p:cNvSpPr/>
          <p:nvPr/>
        </p:nvSpPr>
        <p:spPr>
          <a:xfrm>
            <a:off x="1737360" y="2688336"/>
            <a:ext cx="14630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783080" y="2697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ACCOUNT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3200400" y="2688336"/>
            <a:ext cx="10972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46120" y="26974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1:0..*</a:t>
            </a:r>
            <a:endParaRPr lang="en-US" sz="600" dirty="0"/>
          </a:p>
        </p:txBody>
      </p:sp>
      <p:sp>
        <p:nvSpPr>
          <p:cNvPr id="81" name="Shape 79"/>
          <p:cNvSpPr/>
          <p:nvPr/>
        </p:nvSpPr>
        <p:spPr>
          <a:xfrm>
            <a:off x="4297680" y="2688336"/>
            <a:ext cx="164592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343400" y="2697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acct_holder_role_id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5943600" y="2688336"/>
            <a:ext cx="22860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989320" y="26974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Role account holder</a:t>
            </a:r>
            <a:endParaRPr lang="en-US" sz="600" dirty="0"/>
          </a:p>
        </p:txBody>
      </p:sp>
      <p:sp>
        <p:nvSpPr>
          <p:cNvPr id="85" name="Shape 83"/>
          <p:cNvSpPr/>
          <p:nvPr/>
        </p:nvSpPr>
        <p:spPr>
          <a:xfrm>
            <a:off x="274320" y="2898648"/>
            <a:ext cx="146304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20040" y="29077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PARTY_ROLE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1737360" y="2898648"/>
            <a:ext cx="146304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783080" y="29077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PARTY_RELATIONSHIP</a:t>
            </a:r>
            <a:endParaRPr lang="en-US" sz="600" dirty="0"/>
          </a:p>
        </p:txBody>
      </p:sp>
      <p:sp>
        <p:nvSpPr>
          <p:cNvPr id="89" name="Shape 87"/>
          <p:cNvSpPr/>
          <p:nvPr/>
        </p:nvSpPr>
        <p:spPr>
          <a:xfrm>
            <a:off x="3200400" y="2898648"/>
            <a:ext cx="109728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246120" y="29077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1:0..*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4297680" y="2898648"/>
            <a:ext cx="164592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343400" y="29077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parent_party_role_id</a:t>
            </a:r>
            <a:endParaRPr lang="en-US" sz="600" dirty="0"/>
          </a:p>
        </p:txBody>
      </p:sp>
      <p:sp>
        <p:nvSpPr>
          <p:cNvPr id="93" name="Shape 91"/>
          <p:cNvSpPr/>
          <p:nvPr/>
        </p:nvSpPr>
        <p:spPr>
          <a:xfrm>
            <a:off x="5943600" y="2898648"/>
            <a:ext cx="228600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989320" y="29077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Parent in relation</a:t>
            </a:r>
            <a:endParaRPr lang="en-US" sz="600" dirty="0"/>
          </a:p>
        </p:txBody>
      </p:sp>
      <p:sp>
        <p:nvSpPr>
          <p:cNvPr id="95" name="Shape 93"/>
          <p:cNvSpPr/>
          <p:nvPr/>
        </p:nvSpPr>
        <p:spPr>
          <a:xfrm>
            <a:off x="274320" y="3108960"/>
            <a:ext cx="14630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20040" y="3118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INSTRUMENT</a:t>
            </a:r>
            <a:endParaRPr lang="en-US" sz="600" dirty="0"/>
          </a:p>
        </p:txBody>
      </p:sp>
      <p:sp>
        <p:nvSpPr>
          <p:cNvPr id="97" name="Shape 95"/>
          <p:cNvSpPr/>
          <p:nvPr/>
        </p:nvSpPr>
        <p:spPr>
          <a:xfrm>
            <a:off x="1737360" y="3108960"/>
            <a:ext cx="14630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783080" y="3118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EQUITY_ATTR</a:t>
            </a:r>
            <a:endParaRPr lang="en-US" sz="600" dirty="0"/>
          </a:p>
        </p:txBody>
      </p:sp>
      <p:sp>
        <p:nvSpPr>
          <p:cNvPr id="99" name="Shape 97"/>
          <p:cNvSpPr/>
          <p:nvPr/>
        </p:nvSpPr>
        <p:spPr>
          <a:xfrm>
            <a:off x="3200400" y="3108960"/>
            <a:ext cx="10972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246120" y="31181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1:0..1</a:t>
            </a:r>
            <a:endParaRPr lang="en-US" sz="600" dirty="0"/>
          </a:p>
        </p:txBody>
      </p:sp>
      <p:sp>
        <p:nvSpPr>
          <p:cNvPr id="101" name="Shape 99"/>
          <p:cNvSpPr/>
          <p:nvPr/>
        </p:nvSpPr>
        <p:spPr>
          <a:xfrm>
            <a:off x="4297680" y="3108960"/>
            <a:ext cx="164592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343400" y="311810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instrument_id</a:t>
            </a:r>
            <a:endParaRPr lang="en-US" sz="600" dirty="0"/>
          </a:p>
        </p:txBody>
      </p:sp>
      <p:sp>
        <p:nvSpPr>
          <p:cNvPr id="103" name="Shape 101"/>
          <p:cNvSpPr/>
          <p:nvPr/>
        </p:nvSpPr>
        <p:spPr>
          <a:xfrm>
            <a:off x="5943600" y="3108960"/>
            <a:ext cx="22860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989320" y="31181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Equity attributes</a:t>
            </a:r>
            <a:endParaRPr lang="en-US" sz="600" dirty="0"/>
          </a:p>
        </p:txBody>
      </p:sp>
      <p:sp>
        <p:nvSpPr>
          <p:cNvPr id="105" name="Shape 103"/>
          <p:cNvSpPr/>
          <p:nvPr/>
        </p:nvSpPr>
        <p:spPr>
          <a:xfrm>
            <a:off x="274320" y="3319272"/>
            <a:ext cx="146304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20040" y="33284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INSTRUMENT</a:t>
            </a:r>
            <a:endParaRPr lang="en-US" sz="600" dirty="0"/>
          </a:p>
        </p:txBody>
      </p:sp>
      <p:sp>
        <p:nvSpPr>
          <p:cNvPr id="107" name="Shape 105"/>
          <p:cNvSpPr/>
          <p:nvPr/>
        </p:nvSpPr>
        <p:spPr>
          <a:xfrm>
            <a:off x="1737360" y="3319272"/>
            <a:ext cx="146304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783080" y="33284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OPTION_ATTR</a:t>
            </a:r>
            <a:endParaRPr lang="en-US" sz="600" dirty="0"/>
          </a:p>
        </p:txBody>
      </p:sp>
      <p:sp>
        <p:nvSpPr>
          <p:cNvPr id="109" name="Shape 107"/>
          <p:cNvSpPr/>
          <p:nvPr/>
        </p:nvSpPr>
        <p:spPr>
          <a:xfrm>
            <a:off x="3200400" y="3319272"/>
            <a:ext cx="109728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246120" y="33284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1:0..1</a:t>
            </a:r>
            <a:endParaRPr lang="en-US" sz="600" dirty="0"/>
          </a:p>
        </p:txBody>
      </p:sp>
      <p:sp>
        <p:nvSpPr>
          <p:cNvPr id="111" name="Shape 109"/>
          <p:cNvSpPr/>
          <p:nvPr/>
        </p:nvSpPr>
        <p:spPr>
          <a:xfrm>
            <a:off x="4297680" y="3319272"/>
            <a:ext cx="164592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343400" y="33284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instrument_id</a:t>
            </a:r>
            <a:endParaRPr lang="en-US" sz="600" dirty="0"/>
          </a:p>
        </p:txBody>
      </p:sp>
      <p:sp>
        <p:nvSpPr>
          <p:cNvPr id="113" name="Shape 111"/>
          <p:cNvSpPr/>
          <p:nvPr/>
        </p:nvSpPr>
        <p:spPr>
          <a:xfrm>
            <a:off x="5943600" y="3319272"/>
            <a:ext cx="228600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989320" y="33284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Option attributes</a:t>
            </a:r>
            <a:endParaRPr lang="en-US" sz="600" dirty="0"/>
          </a:p>
        </p:txBody>
      </p:sp>
      <p:sp>
        <p:nvSpPr>
          <p:cNvPr id="115" name="Shape 113"/>
          <p:cNvSpPr/>
          <p:nvPr/>
        </p:nvSpPr>
        <p:spPr>
          <a:xfrm>
            <a:off x="274320" y="3529584"/>
            <a:ext cx="14630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20040" y="3538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INSTRUMENT</a:t>
            </a:r>
            <a:endParaRPr lang="en-US" sz="600" dirty="0"/>
          </a:p>
        </p:txBody>
      </p:sp>
      <p:sp>
        <p:nvSpPr>
          <p:cNvPr id="117" name="Shape 115"/>
          <p:cNvSpPr/>
          <p:nvPr/>
        </p:nvSpPr>
        <p:spPr>
          <a:xfrm>
            <a:off x="1737360" y="3529584"/>
            <a:ext cx="14630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783080" y="3538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FI_ATTR</a:t>
            </a:r>
            <a:endParaRPr lang="en-US" sz="600" dirty="0"/>
          </a:p>
        </p:txBody>
      </p:sp>
      <p:sp>
        <p:nvSpPr>
          <p:cNvPr id="119" name="Shape 117"/>
          <p:cNvSpPr/>
          <p:nvPr/>
        </p:nvSpPr>
        <p:spPr>
          <a:xfrm>
            <a:off x="3200400" y="3529584"/>
            <a:ext cx="10972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246120" y="35387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1:0..1</a:t>
            </a:r>
            <a:endParaRPr lang="en-US" sz="600" dirty="0"/>
          </a:p>
        </p:txBody>
      </p:sp>
      <p:sp>
        <p:nvSpPr>
          <p:cNvPr id="121" name="Shape 119"/>
          <p:cNvSpPr/>
          <p:nvPr/>
        </p:nvSpPr>
        <p:spPr>
          <a:xfrm>
            <a:off x="4297680" y="3529584"/>
            <a:ext cx="164592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343400" y="35387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instrument_id</a:t>
            </a:r>
            <a:endParaRPr lang="en-US" sz="600" dirty="0"/>
          </a:p>
        </p:txBody>
      </p:sp>
      <p:sp>
        <p:nvSpPr>
          <p:cNvPr id="123" name="Shape 121"/>
          <p:cNvSpPr/>
          <p:nvPr/>
        </p:nvSpPr>
        <p:spPr>
          <a:xfrm>
            <a:off x="5943600" y="3529584"/>
            <a:ext cx="22860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989320" y="35387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Fixed income attr</a:t>
            </a:r>
            <a:endParaRPr lang="en-US" sz="600" dirty="0"/>
          </a:p>
        </p:txBody>
      </p:sp>
      <p:sp>
        <p:nvSpPr>
          <p:cNvPr id="125" name="Shape 123"/>
          <p:cNvSpPr/>
          <p:nvPr/>
        </p:nvSpPr>
        <p:spPr>
          <a:xfrm>
            <a:off x="274320" y="3739896"/>
            <a:ext cx="146304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20040" y="37490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INSTRUMENT</a:t>
            </a:r>
            <a:endParaRPr lang="en-US" sz="600" dirty="0"/>
          </a:p>
        </p:txBody>
      </p:sp>
      <p:sp>
        <p:nvSpPr>
          <p:cNvPr id="127" name="Shape 125"/>
          <p:cNvSpPr/>
          <p:nvPr/>
        </p:nvSpPr>
        <p:spPr>
          <a:xfrm>
            <a:off x="1737360" y="3739896"/>
            <a:ext cx="146304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783080" y="37490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DIGITAL_ATTR</a:t>
            </a:r>
            <a:endParaRPr lang="en-US" sz="600" dirty="0"/>
          </a:p>
        </p:txBody>
      </p:sp>
      <p:sp>
        <p:nvSpPr>
          <p:cNvPr id="129" name="Shape 127"/>
          <p:cNvSpPr/>
          <p:nvPr/>
        </p:nvSpPr>
        <p:spPr>
          <a:xfrm>
            <a:off x="3200400" y="3739896"/>
            <a:ext cx="109728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246120" y="3749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1:0..1</a:t>
            </a:r>
            <a:endParaRPr lang="en-US" sz="600" dirty="0"/>
          </a:p>
        </p:txBody>
      </p:sp>
      <p:sp>
        <p:nvSpPr>
          <p:cNvPr id="131" name="Shape 129"/>
          <p:cNvSpPr/>
          <p:nvPr/>
        </p:nvSpPr>
        <p:spPr>
          <a:xfrm>
            <a:off x="4297680" y="3739896"/>
            <a:ext cx="164592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343400" y="3749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instrument_id</a:t>
            </a:r>
            <a:endParaRPr lang="en-US" sz="600" dirty="0"/>
          </a:p>
        </p:txBody>
      </p:sp>
      <p:sp>
        <p:nvSpPr>
          <p:cNvPr id="133" name="Shape 131"/>
          <p:cNvSpPr/>
          <p:nvPr/>
        </p:nvSpPr>
        <p:spPr>
          <a:xfrm>
            <a:off x="5943600" y="3739896"/>
            <a:ext cx="228600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989320" y="37490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Digital asset attr</a:t>
            </a:r>
            <a:endParaRPr lang="en-US" sz="600" dirty="0"/>
          </a:p>
        </p:txBody>
      </p:sp>
      <p:sp>
        <p:nvSpPr>
          <p:cNvPr id="135" name="Shape 133"/>
          <p:cNvSpPr/>
          <p:nvPr/>
        </p:nvSpPr>
        <p:spPr>
          <a:xfrm>
            <a:off x="274320" y="3950208"/>
            <a:ext cx="14630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20040" y="39593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INSTRUMENT</a:t>
            </a:r>
            <a:endParaRPr lang="en-US" sz="600" dirty="0"/>
          </a:p>
        </p:txBody>
      </p:sp>
      <p:sp>
        <p:nvSpPr>
          <p:cNvPr id="137" name="Shape 135"/>
          <p:cNvSpPr/>
          <p:nvPr/>
        </p:nvSpPr>
        <p:spPr>
          <a:xfrm>
            <a:off x="1737360" y="3950208"/>
            <a:ext cx="14630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783080" y="39593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INSTRUMENT_LISTING</a:t>
            </a:r>
            <a:endParaRPr lang="en-US" sz="600" dirty="0"/>
          </a:p>
        </p:txBody>
      </p:sp>
      <p:sp>
        <p:nvSpPr>
          <p:cNvPr id="139" name="Shape 137"/>
          <p:cNvSpPr/>
          <p:nvPr/>
        </p:nvSpPr>
        <p:spPr>
          <a:xfrm>
            <a:off x="3200400" y="3950208"/>
            <a:ext cx="10972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246120" y="39593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1:0..*</a:t>
            </a:r>
            <a:endParaRPr lang="en-US" sz="600" dirty="0"/>
          </a:p>
        </p:txBody>
      </p:sp>
      <p:sp>
        <p:nvSpPr>
          <p:cNvPr id="141" name="Shape 139"/>
          <p:cNvSpPr/>
          <p:nvPr/>
        </p:nvSpPr>
        <p:spPr>
          <a:xfrm>
            <a:off x="4297680" y="3950208"/>
            <a:ext cx="164592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343400" y="3959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instrument_id</a:t>
            </a:r>
            <a:endParaRPr lang="en-US" sz="600" dirty="0"/>
          </a:p>
        </p:txBody>
      </p:sp>
      <p:sp>
        <p:nvSpPr>
          <p:cNvPr id="143" name="Shape 141"/>
          <p:cNvSpPr/>
          <p:nvPr/>
        </p:nvSpPr>
        <p:spPr>
          <a:xfrm>
            <a:off x="5943600" y="3950208"/>
            <a:ext cx="22860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989320" y="39593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Instrument listing</a:t>
            </a:r>
            <a:endParaRPr lang="en-US" sz="600" dirty="0"/>
          </a:p>
        </p:txBody>
      </p:sp>
      <p:sp>
        <p:nvSpPr>
          <p:cNvPr id="145" name="Shape 143"/>
          <p:cNvSpPr/>
          <p:nvPr/>
        </p:nvSpPr>
        <p:spPr>
          <a:xfrm>
            <a:off x="274320" y="4160520"/>
            <a:ext cx="146304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320040" y="41696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VENUE</a:t>
            </a:r>
            <a:endParaRPr lang="en-US" sz="600" dirty="0"/>
          </a:p>
        </p:txBody>
      </p:sp>
      <p:sp>
        <p:nvSpPr>
          <p:cNvPr id="147" name="Shape 145"/>
          <p:cNvSpPr/>
          <p:nvPr/>
        </p:nvSpPr>
        <p:spPr>
          <a:xfrm>
            <a:off x="1737360" y="4160520"/>
            <a:ext cx="146304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783080" y="41696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INSTRUMENT_LISTING</a:t>
            </a:r>
            <a:endParaRPr lang="en-US" sz="600" dirty="0"/>
          </a:p>
        </p:txBody>
      </p:sp>
      <p:sp>
        <p:nvSpPr>
          <p:cNvPr id="149" name="Shape 147"/>
          <p:cNvSpPr/>
          <p:nvPr/>
        </p:nvSpPr>
        <p:spPr>
          <a:xfrm>
            <a:off x="3200400" y="4160520"/>
            <a:ext cx="109728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3246120" y="41696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1:0..*</a:t>
            </a:r>
            <a:endParaRPr lang="en-US" sz="600" dirty="0"/>
          </a:p>
        </p:txBody>
      </p:sp>
      <p:sp>
        <p:nvSpPr>
          <p:cNvPr id="151" name="Shape 149"/>
          <p:cNvSpPr/>
          <p:nvPr/>
        </p:nvSpPr>
        <p:spPr>
          <a:xfrm>
            <a:off x="4297680" y="4160520"/>
            <a:ext cx="164592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4343400" y="41696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venue_id</a:t>
            </a:r>
            <a:endParaRPr lang="en-US" sz="600" dirty="0"/>
          </a:p>
        </p:txBody>
      </p:sp>
      <p:sp>
        <p:nvSpPr>
          <p:cNvPr id="153" name="Shape 151"/>
          <p:cNvSpPr/>
          <p:nvPr/>
        </p:nvSpPr>
        <p:spPr>
          <a:xfrm>
            <a:off x="5943600" y="4160520"/>
            <a:ext cx="228600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5989320" y="41696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Venue listings</a:t>
            </a:r>
            <a:endParaRPr lang="en-US" sz="600" dirty="0"/>
          </a:p>
        </p:txBody>
      </p:sp>
      <p:sp>
        <p:nvSpPr>
          <p:cNvPr id="155" name="Shape 153"/>
          <p:cNvSpPr/>
          <p:nvPr/>
        </p:nvSpPr>
        <p:spPr>
          <a:xfrm>
            <a:off x="274320" y="4370832"/>
            <a:ext cx="14630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20040" y="43799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ORDER_EVENT</a:t>
            </a:r>
            <a:endParaRPr lang="en-US" sz="600" dirty="0"/>
          </a:p>
        </p:txBody>
      </p:sp>
      <p:sp>
        <p:nvSpPr>
          <p:cNvPr id="157" name="Shape 155"/>
          <p:cNvSpPr/>
          <p:nvPr/>
        </p:nvSpPr>
        <p:spPr>
          <a:xfrm>
            <a:off x="1737360" y="4370832"/>
            <a:ext cx="14630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783080" y="43799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ORDER_ROUTE</a:t>
            </a:r>
            <a:endParaRPr lang="en-US" sz="600" dirty="0"/>
          </a:p>
        </p:txBody>
      </p:sp>
      <p:sp>
        <p:nvSpPr>
          <p:cNvPr id="159" name="Shape 157"/>
          <p:cNvSpPr/>
          <p:nvPr/>
        </p:nvSpPr>
        <p:spPr>
          <a:xfrm>
            <a:off x="3200400" y="4370832"/>
            <a:ext cx="10972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3246120" y="437997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1:0..*</a:t>
            </a:r>
            <a:endParaRPr lang="en-US" sz="600" dirty="0"/>
          </a:p>
        </p:txBody>
      </p:sp>
      <p:sp>
        <p:nvSpPr>
          <p:cNvPr id="161" name="Shape 159"/>
          <p:cNvSpPr/>
          <p:nvPr/>
        </p:nvSpPr>
        <p:spPr>
          <a:xfrm>
            <a:off x="4297680" y="4370832"/>
            <a:ext cx="164592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4343400" y="43799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order_event_id</a:t>
            </a:r>
            <a:endParaRPr lang="en-US" sz="600" dirty="0"/>
          </a:p>
        </p:txBody>
      </p:sp>
      <p:sp>
        <p:nvSpPr>
          <p:cNvPr id="163" name="Shape 161"/>
          <p:cNvSpPr/>
          <p:nvPr/>
        </p:nvSpPr>
        <p:spPr>
          <a:xfrm>
            <a:off x="5943600" y="4370832"/>
            <a:ext cx="22860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989320" y="43799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Order routing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2026-03-07T02:58:15Z</dcterms:created>
  <dcterms:modified xsi:type="dcterms:W3CDTF">2026-03-07T02:58:15Z</dcterms:modified>
</cp:coreProperties>
</file>